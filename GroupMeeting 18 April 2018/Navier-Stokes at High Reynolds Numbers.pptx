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6" autoAdjust="0"/>
    <p:restoredTop sz="94660"/>
  </p:normalViewPr>
  <p:slideViewPr>
    <p:cSldViewPr snapToGrid="0">
      <p:cViewPr varScale="1">
        <p:scale>
          <a:sx n="65" d="100"/>
          <a:sy n="65" d="100"/>
        </p:scale>
        <p:origin x="726" y="3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4/17/2018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4/17/2018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4/17/2018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dirty="0"/>
              <a:t>4/17/2018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4/17/2018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4/17/2018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4/17/2018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4/17/2018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4/17/2018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4/17/2018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4/17/2018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4/17/2018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4/17/2018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4/17/2018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4/17/2018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4/17/2018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4/17/2018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5" r:id="rId4"/>
    <p:sldLayoutId id="2147483653" r:id="rId5"/>
    <p:sldLayoutId id="2147483654" r:id="rId6"/>
    <p:sldLayoutId id="2147483655" r:id="rId7"/>
    <p:sldLayoutId id="214748366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7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96454" y="391380"/>
            <a:ext cx="7766936" cy="1646302"/>
          </a:xfrm>
        </p:spPr>
        <p:txBody>
          <a:bodyPr/>
          <a:lstStyle/>
          <a:p>
            <a:r>
              <a:rPr lang="en-US" dirty="0" err="1" smtClean="0"/>
              <a:t>Navier</a:t>
            </a:r>
            <a:r>
              <a:rPr lang="en-US" dirty="0" smtClean="0"/>
              <a:t>-Stokes at High Reynolds Numbers</a:t>
            </a:r>
            <a:endParaRPr lang="en-US" dirty="0"/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6110" y="2115462"/>
            <a:ext cx="4760052" cy="387074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4001161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Motivation: turbulence on the nanoscale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“</a:t>
            </a:r>
            <a:r>
              <a:rPr lang="en-US" dirty="0" err="1" smtClean="0"/>
              <a:t>Planckian</a:t>
            </a:r>
            <a:r>
              <a:rPr lang="en-US" dirty="0" smtClean="0"/>
              <a:t> fluid” on the nanometer scale. Fermi-liquid guised Reynolds gives order: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r>
              <a:rPr lang="en-US" dirty="0" smtClean="0"/>
              <a:t>Expressing length and velocity in natural units:</a:t>
            </a:r>
          </a:p>
          <a:p>
            <a:endParaRPr lang="en-US" dirty="0"/>
          </a:p>
          <a:p>
            <a:endParaRPr lang="en-US" dirty="0" smtClean="0"/>
          </a:p>
          <a:p>
            <a:r>
              <a:rPr lang="en-US" dirty="0" smtClean="0"/>
              <a:t>Strange Metal at 1K, Re = 100 000 000 </a:t>
            </a:r>
            <a:r>
              <a:rPr lang="en-US" dirty="0" err="1" smtClean="0"/>
              <a:t>v_tr</a:t>
            </a:r>
            <a:r>
              <a:rPr lang="en-US" dirty="0" smtClean="0"/>
              <a:t> / </a:t>
            </a:r>
            <a:r>
              <a:rPr lang="en-US" dirty="0" err="1" smtClean="0"/>
              <a:t>v_mu</a:t>
            </a:r>
            <a:endParaRPr lang="en-US" dirty="0"/>
          </a:p>
          <a:p>
            <a:r>
              <a:rPr lang="en-US" dirty="0" smtClean="0"/>
              <a:t>YBCO at T=100K, just above critical: Re = 10 000 </a:t>
            </a:r>
            <a:r>
              <a:rPr lang="en-US" dirty="0" err="1" smtClean="0"/>
              <a:t>v_tr</a:t>
            </a:r>
            <a:r>
              <a:rPr lang="en-US" dirty="0" smtClean="0"/>
              <a:t>/</a:t>
            </a:r>
            <a:r>
              <a:rPr lang="en-US" dirty="0" err="1" smtClean="0"/>
              <a:t>v_mu</a:t>
            </a:r>
            <a:endParaRPr lang="en-US" dirty="0" smtClean="0"/>
          </a:p>
          <a:p>
            <a:r>
              <a:rPr lang="en-US" dirty="0" smtClean="0"/>
              <a:t>Turbulent flows in a nanoscale system!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1681315" y="2695267"/>
                <a:ext cx="4719485" cy="66178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i="0">
                          <a:latin typeface="Cambria Math" panose="02040503050406030204" pitchFamily="18" charset="0"/>
                        </a:rPr>
                        <m:t>ⅇ=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</m:num>
                        <m:den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i="0"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sub>
                          </m:sSub>
                        </m:den>
                      </m:f>
                      <m:r>
                        <a:rPr lang="en-US" i="0">
                          <a:latin typeface="Cambria Math" panose="02040503050406030204" pitchFamily="18" charset="0"/>
                        </a:rPr>
                        <m:t>∘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sub>
                          </m:sSub>
                        </m:den>
                      </m:f>
                      <m:r>
                        <a:rPr lang="en-US" i="0">
                          <a:latin typeface="Cambria Math" panose="02040503050406030204" pitchFamily="18" charset="0"/>
                        </a:rPr>
                        <m:t>⋅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𝑡𝑟</m:t>
                              </m:r>
                            </m:sub>
                          </m:sSub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𝜇</m:t>
                          </m:r>
                        </m:den>
                      </m:f>
                      <m:r>
                        <a:rPr lang="en-US" i="0">
                          <a:latin typeface="Cambria Math" panose="02040503050406030204" pitchFamily="18" charset="0"/>
                        </a:rPr>
                        <m:t>⋅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𝜇</m:t>
                          </m:r>
                        </m:num>
                        <m:den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𝑇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81315" y="2695267"/>
                <a:ext cx="4719485" cy="66178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2839064" y="4181436"/>
                <a:ext cx="1034129" cy="51777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i="0" dirty="0">
                          <a:latin typeface="Cambria Math" panose="02040503050406030204" pitchFamily="18" charset="0"/>
                        </a:rPr>
                        <m:t>ⅇ=</m:t>
                      </m:r>
                      <m:f>
                        <m:f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𝜇</m:t>
                          </m:r>
                        </m:num>
                        <m:den>
                          <m:sSub>
                            <m:sSub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𝑇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39064" y="4181436"/>
                <a:ext cx="1034129" cy="51777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880036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Can we solve this with Engineering techniques?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Benefit:</a:t>
            </a:r>
          </a:p>
          <a:p>
            <a:pPr lvl="1"/>
            <a:r>
              <a:rPr lang="en-US" dirty="0" smtClean="0"/>
              <a:t>different materials</a:t>
            </a:r>
          </a:p>
          <a:p>
            <a:pPr lvl="1"/>
            <a:r>
              <a:rPr lang="en-US" dirty="0" smtClean="0"/>
              <a:t>different spatial arrangements</a:t>
            </a:r>
          </a:p>
          <a:p>
            <a:pPr lvl="1"/>
            <a:r>
              <a:rPr lang="en-US" dirty="0" smtClean="0"/>
              <a:t>Rapidly posing problems</a:t>
            </a:r>
          </a:p>
          <a:p>
            <a:r>
              <a:rPr lang="en-US" dirty="0" smtClean="0"/>
              <a:t>Drawbacks:</a:t>
            </a:r>
          </a:p>
          <a:p>
            <a:pPr lvl="1"/>
            <a:r>
              <a:rPr lang="en-US" dirty="0" smtClean="0"/>
              <a:t>Makes assumptions to simplify problem</a:t>
            </a:r>
          </a:p>
          <a:p>
            <a:pPr lvl="1"/>
            <a:r>
              <a:rPr lang="en-US" dirty="0" smtClean="0"/>
              <a:t>Slower code (framework overhead)</a:t>
            </a:r>
          </a:p>
          <a:p>
            <a:r>
              <a:rPr lang="en-US" dirty="0" smtClean="0"/>
              <a:t>Conclusion?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99828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Direct </a:t>
            </a:r>
            <a:r>
              <a:rPr lang="en-US" dirty="0" err="1" smtClean="0"/>
              <a:t>Navier</a:t>
            </a:r>
            <a:r>
              <a:rPr lang="en-US" dirty="0" smtClean="0"/>
              <a:t> Stokes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Industry-standard: Prediction-Projection method</a:t>
            </a:r>
          </a:p>
          <a:p>
            <a:pPr lvl="1"/>
            <a:r>
              <a:rPr lang="en-US" dirty="0" smtClean="0"/>
              <a:t>(simplified)  “U star” ~ u( </a:t>
            </a:r>
            <a:r>
              <a:rPr lang="en-US" dirty="0" err="1" smtClean="0"/>
              <a:t>t+dt</a:t>
            </a:r>
            <a:r>
              <a:rPr lang="en-US" dirty="0" smtClean="0"/>
              <a:t>)  “predict </a:t>
            </a:r>
            <a:r>
              <a:rPr lang="en-US" dirty="0" err="1" smtClean="0"/>
              <a:t>Navier</a:t>
            </a:r>
            <a:r>
              <a:rPr lang="en-US" dirty="0" smtClean="0"/>
              <a:t>-Stokes”</a:t>
            </a:r>
          </a:p>
          <a:p>
            <a:pPr lvl="1"/>
            <a:r>
              <a:rPr lang="en-US" dirty="0" smtClean="0"/>
              <a:t>Use to calculate p(</a:t>
            </a:r>
            <a:r>
              <a:rPr lang="en-US" dirty="0" err="1" smtClean="0"/>
              <a:t>t+dt</a:t>
            </a:r>
            <a:r>
              <a:rPr lang="en-US" dirty="0" smtClean="0"/>
              <a:t>)  “Solve  Continuity”</a:t>
            </a:r>
          </a:p>
          <a:p>
            <a:pPr lvl="1"/>
            <a:r>
              <a:rPr lang="en-US" dirty="0" smtClean="0"/>
              <a:t>Then update u(</a:t>
            </a:r>
            <a:r>
              <a:rPr lang="en-US" dirty="0" err="1" smtClean="0"/>
              <a:t>t+dt</a:t>
            </a:r>
            <a:r>
              <a:rPr lang="en-US" dirty="0" smtClean="0"/>
              <a:t>)  “Project </a:t>
            </a:r>
            <a:r>
              <a:rPr lang="en-US" dirty="0" err="1" smtClean="0"/>
              <a:t>Navier</a:t>
            </a:r>
            <a:r>
              <a:rPr lang="en-US" dirty="0" smtClean="0"/>
              <a:t>-Stokes”</a:t>
            </a:r>
          </a:p>
          <a:p>
            <a:r>
              <a:rPr lang="en-US" dirty="0" smtClean="0"/>
              <a:t>C++14/OMP: Cluster optimization </a:t>
            </a:r>
          </a:p>
          <a:p>
            <a:r>
              <a:rPr lang="en-US" dirty="0" smtClean="0"/>
              <a:t>However:</a:t>
            </a:r>
          </a:p>
          <a:p>
            <a:pPr lvl="1"/>
            <a:r>
              <a:rPr lang="en-US" dirty="0" smtClean="0"/>
              <a:t>Stability issues</a:t>
            </a:r>
          </a:p>
          <a:p>
            <a:pPr lvl="1"/>
            <a:r>
              <a:rPr lang="en-US" dirty="0" smtClean="0"/>
              <a:t>Very hard to implement</a:t>
            </a:r>
          </a:p>
          <a:p>
            <a:pPr lvl="1"/>
            <a:r>
              <a:rPr lang="en-US" dirty="0" smtClean="0"/>
              <a:t>Assumptions build into core of process</a:t>
            </a:r>
          </a:p>
          <a:p>
            <a:pPr lvl="1"/>
            <a:r>
              <a:rPr lang="en-US" dirty="0" smtClean="0"/>
              <a:t>This is an instate for Physics, not CFD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67601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Results: Engineering CFD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(Movie time)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98289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Results: Lattice Boltzmann Method</a:t>
            </a:r>
            <a:br>
              <a:rPr lang="en-US" dirty="0" smtClean="0"/>
            </a:br>
            <a:r>
              <a:rPr lang="en-US" dirty="0" smtClean="0"/>
              <a:t>(SPTCM school)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Gallery time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6937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now?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direct NS solver:</a:t>
            </a:r>
          </a:p>
          <a:p>
            <a:pPr lvl="1"/>
            <a:r>
              <a:rPr lang="en-US" dirty="0" smtClean="0"/>
              <a:t>Implementation taken care of</a:t>
            </a:r>
          </a:p>
          <a:p>
            <a:pPr lvl="1"/>
            <a:r>
              <a:rPr lang="en-US" dirty="0" smtClean="0"/>
              <a:t>Focus </a:t>
            </a:r>
            <a:r>
              <a:rPr lang="en-US" dirty="0" err="1" smtClean="0"/>
              <a:t>holo</a:t>
            </a:r>
            <a:r>
              <a:rPr lang="en-US" dirty="0" smtClean="0"/>
              <a:t>/hydro, not CFD</a:t>
            </a:r>
          </a:p>
          <a:p>
            <a:pPr lvl="1"/>
            <a:endParaRPr lang="en-US" dirty="0" smtClean="0"/>
          </a:p>
          <a:p>
            <a:r>
              <a:rPr lang="en-US" dirty="0" smtClean="0"/>
              <a:t>Pose problems (e.g. candle flame)</a:t>
            </a:r>
          </a:p>
          <a:p>
            <a:r>
              <a:rPr lang="en-NL" dirty="0" smtClean="0"/>
              <a:t>…</a:t>
            </a:r>
            <a:r>
              <a:rPr lang="en-US" dirty="0" smtClean="0"/>
              <a:t> Next sprint:</a:t>
            </a:r>
          </a:p>
          <a:p>
            <a:pPr lvl="1"/>
            <a:r>
              <a:rPr lang="en-US" dirty="0" smtClean="0"/>
              <a:t>Candle flame</a:t>
            </a:r>
          </a:p>
          <a:p>
            <a:pPr lvl="1"/>
            <a:r>
              <a:rPr lang="en-US" dirty="0" smtClean="0"/>
              <a:t>Global vs local measurements of turbulence?</a:t>
            </a:r>
          </a:p>
          <a:p>
            <a:pPr lvl="1"/>
            <a:r>
              <a:rPr lang="en-US" dirty="0" smtClean="0"/>
              <a:t>Near-boundary local measurements?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5880393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8C59B386-999D-4CB6-B907-9F3997C027C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26</TotalTime>
  <Words>234</Words>
  <Application>Microsoft Office PowerPoint</Application>
  <PresentationFormat>Widescreen</PresentationFormat>
  <Paragraphs>48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Cambria Math</vt:lpstr>
      <vt:lpstr>Trebuchet MS</vt:lpstr>
      <vt:lpstr>Wingdings 3</vt:lpstr>
      <vt:lpstr>Facet</vt:lpstr>
      <vt:lpstr>Navier-Stokes at High Reynolds Numbers</vt:lpstr>
      <vt:lpstr>Motivation: turbulence on the nanoscale</vt:lpstr>
      <vt:lpstr>Can we solve this with Engineering techniques?</vt:lpstr>
      <vt:lpstr>Direct Navier Stokes</vt:lpstr>
      <vt:lpstr>Results: Engineering CFD</vt:lpstr>
      <vt:lpstr>Results: Lattice Boltzmann Method (SPTCM school)</vt:lpstr>
      <vt:lpstr>What now?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Navier-Stokes at High Reynolds Numbers</dc:title>
  <dc:creator>Windows User</dc:creator>
  <cp:lastModifiedBy>Windows User</cp:lastModifiedBy>
  <cp:revision>14</cp:revision>
  <dcterms:created xsi:type="dcterms:W3CDTF">2018-04-17T21:12:21Z</dcterms:created>
  <dcterms:modified xsi:type="dcterms:W3CDTF">2018-04-17T21:39:07Z</dcterms:modified>
</cp:coreProperties>
</file>