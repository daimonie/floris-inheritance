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67B64F-FEBD-45F0-95F6-428C7C2E446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EFF1C8FB-CF25-4FB6-B714-2A18FBBF1B4B}">
      <dgm:prSet phldrT="[Text]"/>
      <dgm:spPr/>
      <dgm:t>
        <a:bodyPr/>
        <a:lstStyle/>
        <a:p>
          <a:r>
            <a:rPr lang="en-US" dirty="0" smtClean="0"/>
            <a:t>Beautiful is better than ugly</a:t>
          </a:r>
          <a:endParaRPr lang="en-US" dirty="0"/>
        </a:p>
      </dgm:t>
    </dgm:pt>
    <dgm:pt modelId="{5E3AA782-517D-46ED-B0C3-0182F176C067}" type="parTrans" cxnId="{FF244326-F87E-4459-91A6-48FA2A3FFA25}">
      <dgm:prSet/>
      <dgm:spPr/>
      <dgm:t>
        <a:bodyPr/>
        <a:lstStyle/>
        <a:p>
          <a:endParaRPr lang="en-US"/>
        </a:p>
      </dgm:t>
    </dgm:pt>
    <dgm:pt modelId="{0046E566-B78E-4A72-9E5B-25F04785E951}" type="sibTrans" cxnId="{FF244326-F87E-4459-91A6-48FA2A3FFA25}">
      <dgm:prSet/>
      <dgm:spPr/>
      <dgm:t>
        <a:bodyPr/>
        <a:lstStyle/>
        <a:p>
          <a:endParaRPr lang="en-US"/>
        </a:p>
      </dgm:t>
    </dgm:pt>
    <dgm:pt modelId="{7E63BB4E-0C66-4168-A310-790FEC56912A}">
      <dgm:prSet phldrT="[Text]"/>
      <dgm:spPr/>
      <dgm:t>
        <a:bodyPr/>
        <a:lstStyle/>
        <a:p>
          <a:r>
            <a:rPr lang="en-US" dirty="0" smtClean="0"/>
            <a:t>Simple is better than Complex</a:t>
          </a:r>
          <a:endParaRPr lang="en-US" dirty="0"/>
        </a:p>
      </dgm:t>
    </dgm:pt>
    <dgm:pt modelId="{2E8259AC-F0F7-41E4-BD30-AD8377730B18}" type="parTrans" cxnId="{3F3AA7DA-DA56-4F4E-848C-8BF0C11E4518}">
      <dgm:prSet/>
      <dgm:spPr/>
      <dgm:t>
        <a:bodyPr/>
        <a:lstStyle/>
        <a:p>
          <a:endParaRPr lang="en-US"/>
        </a:p>
      </dgm:t>
    </dgm:pt>
    <dgm:pt modelId="{EC68375E-57E1-42C6-A5D5-BB74C5CABA99}" type="sibTrans" cxnId="{3F3AA7DA-DA56-4F4E-848C-8BF0C11E4518}">
      <dgm:prSet/>
      <dgm:spPr/>
      <dgm:t>
        <a:bodyPr/>
        <a:lstStyle/>
        <a:p>
          <a:endParaRPr lang="en-US"/>
        </a:p>
      </dgm:t>
    </dgm:pt>
    <dgm:pt modelId="{1E7B89E6-B997-4573-A9C4-EE0FF2FD9123}">
      <dgm:prSet phldrT="[Text]"/>
      <dgm:spPr/>
      <dgm:t>
        <a:bodyPr/>
        <a:lstStyle/>
        <a:p>
          <a:r>
            <a:rPr lang="en-US" dirty="0" smtClean="0"/>
            <a:t>Flat is better than nested</a:t>
          </a:r>
          <a:endParaRPr lang="en-US" dirty="0"/>
        </a:p>
      </dgm:t>
    </dgm:pt>
    <dgm:pt modelId="{A7B0ACDF-46F7-4254-9E64-FEFCEBB13323}" type="parTrans" cxnId="{6A074B7E-52D6-462E-BE6A-976459945E13}">
      <dgm:prSet/>
      <dgm:spPr/>
      <dgm:t>
        <a:bodyPr/>
        <a:lstStyle/>
        <a:p>
          <a:endParaRPr lang="en-US"/>
        </a:p>
      </dgm:t>
    </dgm:pt>
    <dgm:pt modelId="{41B7989A-2823-4D55-B294-86D0EEB830E4}" type="sibTrans" cxnId="{6A074B7E-52D6-462E-BE6A-976459945E13}">
      <dgm:prSet/>
      <dgm:spPr/>
      <dgm:t>
        <a:bodyPr/>
        <a:lstStyle/>
        <a:p>
          <a:endParaRPr lang="en-US"/>
        </a:p>
      </dgm:t>
    </dgm:pt>
    <dgm:pt modelId="{97BFFC5A-E0B8-48CF-8A5F-36BE292D046F}">
      <dgm:prSet phldrT="[Text]"/>
      <dgm:spPr/>
      <dgm:t>
        <a:bodyPr/>
        <a:lstStyle/>
        <a:p>
          <a:r>
            <a:rPr lang="en-US" dirty="0" smtClean="0"/>
            <a:t>Readability counts</a:t>
          </a:r>
          <a:endParaRPr lang="en-US" dirty="0"/>
        </a:p>
      </dgm:t>
    </dgm:pt>
    <dgm:pt modelId="{4B3B48F6-D1B4-4A22-AC15-7EA3997A8184}" type="parTrans" cxnId="{982E3349-6C84-4283-8938-2156D2B3817F}">
      <dgm:prSet/>
      <dgm:spPr/>
      <dgm:t>
        <a:bodyPr/>
        <a:lstStyle/>
        <a:p>
          <a:endParaRPr lang="en-US"/>
        </a:p>
      </dgm:t>
    </dgm:pt>
    <dgm:pt modelId="{072A2FAA-A99E-4855-A736-8E86EAA047A0}" type="sibTrans" cxnId="{982E3349-6C84-4283-8938-2156D2B3817F}">
      <dgm:prSet/>
      <dgm:spPr/>
      <dgm:t>
        <a:bodyPr/>
        <a:lstStyle/>
        <a:p>
          <a:endParaRPr lang="en-US"/>
        </a:p>
      </dgm:t>
    </dgm:pt>
    <dgm:pt modelId="{545736B1-8A36-4319-82C8-6B87B1213D52}" type="pres">
      <dgm:prSet presAssocID="{0467B64F-FEBD-45F0-95F6-428C7C2E446F}" presName="linearFlow" presStyleCnt="0">
        <dgm:presLayoutVars>
          <dgm:dir/>
          <dgm:resizeHandles val="exact"/>
        </dgm:presLayoutVars>
      </dgm:prSet>
      <dgm:spPr/>
    </dgm:pt>
    <dgm:pt modelId="{BBB750D6-A8DF-474D-A86D-88153EFBF013}" type="pres">
      <dgm:prSet presAssocID="{EFF1C8FB-CF25-4FB6-B714-2A18FBBF1B4B}" presName="composite" presStyleCnt="0"/>
      <dgm:spPr/>
    </dgm:pt>
    <dgm:pt modelId="{47CE492C-B0D8-4C29-8DFB-4A56DAF22B25}" type="pres">
      <dgm:prSet presAssocID="{EFF1C8FB-CF25-4FB6-B714-2A18FBBF1B4B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CD12FFD3-1AEC-487F-AC08-3AA6F1897D8F}" type="pres">
      <dgm:prSet presAssocID="{EFF1C8FB-CF25-4FB6-B714-2A18FBBF1B4B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6162CC-BF3C-4E90-B0E4-C35606FFCECE}" type="pres">
      <dgm:prSet presAssocID="{0046E566-B78E-4A72-9E5B-25F04785E951}" presName="spacing" presStyleCnt="0"/>
      <dgm:spPr/>
    </dgm:pt>
    <dgm:pt modelId="{B3FFA55F-127B-45FD-AD44-A2AC4AFAECBD}" type="pres">
      <dgm:prSet presAssocID="{7E63BB4E-0C66-4168-A310-790FEC56912A}" presName="composite" presStyleCnt="0"/>
      <dgm:spPr/>
    </dgm:pt>
    <dgm:pt modelId="{DA280AE0-73CA-4DB2-BDC8-9A60A3D75700}" type="pres">
      <dgm:prSet presAssocID="{7E63BB4E-0C66-4168-A310-790FEC56912A}" presName="imgShp" presStyleLbl="fgImgPlace1" presStyleIdx="1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AAF4A66C-5A69-41DF-A509-7E5554AD3039}" type="pres">
      <dgm:prSet presAssocID="{7E63BB4E-0C66-4168-A310-790FEC56912A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7BC02C-5842-4541-8364-BEB53FBB1BD1}" type="pres">
      <dgm:prSet presAssocID="{EC68375E-57E1-42C6-A5D5-BB74C5CABA99}" presName="spacing" presStyleCnt="0"/>
      <dgm:spPr/>
    </dgm:pt>
    <dgm:pt modelId="{19625328-1C0B-4F21-8A64-50564A6E9470}" type="pres">
      <dgm:prSet presAssocID="{1E7B89E6-B997-4573-A9C4-EE0FF2FD9123}" presName="composite" presStyleCnt="0"/>
      <dgm:spPr/>
    </dgm:pt>
    <dgm:pt modelId="{4E0B9E2E-88B1-4E8A-884A-46D38577C484}" type="pres">
      <dgm:prSet presAssocID="{1E7B89E6-B997-4573-A9C4-EE0FF2FD9123}" presName="imgShp" presStyleLbl="fgImgPlace1" presStyleIdx="2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5B319D2B-1559-4D84-A692-F53FDF91AC18}" type="pres">
      <dgm:prSet presAssocID="{1E7B89E6-B997-4573-A9C4-EE0FF2FD912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2B50C7-CE16-4B03-ADC0-4D5E63F2ABE1}" type="pres">
      <dgm:prSet presAssocID="{41B7989A-2823-4D55-B294-86D0EEB830E4}" presName="spacing" presStyleCnt="0"/>
      <dgm:spPr/>
    </dgm:pt>
    <dgm:pt modelId="{DB0A76E6-FF7F-4054-BB92-CC8DCE972CB3}" type="pres">
      <dgm:prSet presAssocID="{97BFFC5A-E0B8-48CF-8A5F-36BE292D046F}" presName="composite" presStyleCnt="0"/>
      <dgm:spPr/>
    </dgm:pt>
    <dgm:pt modelId="{AC642C2C-8368-4CA9-86D2-914BEED69004}" type="pres">
      <dgm:prSet presAssocID="{97BFFC5A-E0B8-48CF-8A5F-36BE292D046F}" presName="imgShp" presStyleLbl="fgImgPlace1" presStyleIdx="3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EEC36A89-0FF0-4B80-A80F-C9DE07FE352A}" type="pres">
      <dgm:prSet presAssocID="{97BFFC5A-E0B8-48CF-8A5F-36BE292D046F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F0AB810-2F82-43E1-83A7-25C2E7468727}" type="presOf" srcId="{0467B64F-FEBD-45F0-95F6-428C7C2E446F}" destId="{545736B1-8A36-4319-82C8-6B87B1213D52}" srcOrd="0" destOrd="0" presId="urn:microsoft.com/office/officeart/2005/8/layout/vList3"/>
    <dgm:cxn modelId="{982E3349-6C84-4283-8938-2156D2B3817F}" srcId="{0467B64F-FEBD-45F0-95F6-428C7C2E446F}" destId="{97BFFC5A-E0B8-48CF-8A5F-36BE292D046F}" srcOrd="3" destOrd="0" parTransId="{4B3B48F6-D1B4-4A22-AC15-7EA3997A8184}" sibTransId="{072A2FAA-A99E-4855-A736-8E86EAA047A0}"/>
    <dgm:cxn modelId="{6A074B7E-52D6-462E-BE6A-976459945E13}" srcId="{0467B64F-FEBD-45F0-95F6-428C7C2E446F}" destId="{1E7B89E6-B997-4573-A9C4-EE0FF2FD9123}" srcOrd="2" destOrd="0" parTransId="{A7B0ACDF-46F7-4254-9E64-FEFCEBB13323}" sibTransId="{41B7989A-2823-4D55-B294-86D0EEB830E4}"/>
    <dgm:cxn modelId="{D55AA8C0-1E38-49A6-9BE8-2F36435EF061}" type="presOf" srcId="{97BFFC5A-E0B8-48CF-8A5F-36BE292D046F}" destId="{EEC36A89-0FF0-4B80-A80F-C9DE07FE352A}" srcOrd="0" destOrd="0" presId="urn:microsoft.com/office/officeart/2005/8/layout/vList3"/>
    <dgm:cxn modelId="{C7C3612B-22ED-41A5-BB92-8422AAF7E7EF}" type="presOf" srcId="{1E7B89E6-B997-4573-A9C4-EE0FF2FD9123}" destId="{5B319D2B-1559-4D84-A692-F53FDF91AC18}" srcOrd="0" destOrd="0" presId="urn:microsoft.com/office/officeart/2005/8/layout/vList3"/>
    <dgm:cxn modelId="{FF244326-F87E-4459-91A6-48FA2A3FFA25}" srcId="{0467B64F-FEBD-45F0-95F6-428C7C2E446F}" destId="{EFF1C8FB-CF25-4FB6-B714-2A18FBBF1B4B}" srcOrd="0" destOrd="0" parTransId="{5E3AA782-517D-46ED-B0C3-0182F176C067}" sibTransId="{0046E566-B78E-4A72-9E5B-25F04785E951}"/>
    <dgm:cxn modelId="{B041607D-5502-43F9-ABBE-B6BC48BC7F7C}" type="presOf" srcId="{EFF1C8FB-CF25-4FB6-B714-2A18FBBF1B4B}" destId="{CD12FFD3-1AEC-487F-AC08-3AA6F1897D8F}" srcOrd="0" destOrd="0" presId="urn:microsoft.com/office/officeart/2005/8/layout/vList3"/>
    <dgm:cxn modelId="{05D09D1E-28A9-4011-9735-71187A6442AB}" type="presOf" srcId="{7E63BB4E-0C66-4168-A310-790FEC56912A}" destId="{AAF4A66C-5A69-41DF-A509-7E5554AD3039}" srcOrd="0" destOrd="0" presId="urn:microsoft.com/office/officeart/2005/8/layout/vList3"/>
    <dgm:cxn modelId="{3F3AA7DA-DA56-4F4E-848C-8BF0C11E4518}" srcId="{0467B64F-FEBD-45F0-95F6-428C7C2E446F}" destId="{7E63BB4E-0C66-4168-A310-790FEC56912A}" srcOrd="1" destOrd="0" parTransId="{2E8259AC-F0F7-41E4-BD30-AD8377730B18}" sibTransId="{EC68375E-57E1-42C6-A5D5-BB74C5CABA99}"/>
    <dgm:cxn modelId="{B7C27A89-33AD-4B40-9425-F7476E6E8E53}" type="presParOf" srcId="{545736B1-8A36-4319-82C8-6B87B1213D52}" destId="{BBB750D6-A8DF-474D-A86D-88153EFBF013}" srcOrd="0" destOrd="0" presId="urn:microsoft.com/office/officeart/2005/8/layout/vList3"/>
    <dgm:cxn modelId="{67915CF4-8A9B-4474-B28B-644FDEDA6A18}" type="presParOf" srcId="{BBB750D6-A8DF-474D-A86D-88153EFBF013}" destId="{47CE492C-B0D8-4C29-8DFB-4A56DAF22B25}" srcOrd="0" destOrd="0" presId="urn:microsoft.com/office/officeart/2005/8/layout/vList3"/>
    <dgm:cxn modelId="{D9094F25-B258-436D-A5D9-E1D93F5ACEAE}" type="presParOf" srcId="{BBB750D6-A8DF-474D-A86D-88153EFBF013}" destId="{CD12FFD3-1AEC-487F-AC08-3AA6F1897D8F}" srcOrd="1" destOrd="0" presId="urn:microsoft.com/office/officeart/2005/8/layout/vList3"/>
    <dgm:cxn modelId="{F83E6542-C39C-43E9-9F46-9C2C063EB602}" type="presParOf" srcId="{545736B1-8A36-4319-82C8-6B87B1213D52}" destId="{E36162CC-BF3C-4E90-B0E4-C35606FFCECE}" srcOrd="1" destOrd="0" presId="urn:microsoft.com/office/officeart/2005/8/layout/vList3"/>
    <dgm:cxn modelId="{C7C7325A-C72B-43BA-B985-6B1979ECFD6C}" type="presParOf" srcId="{545736B1-8A36-4319-82C8-6B87B1213D52}" destId="{B3FFA55F-127B-45FD-AD44-A2AC4AFAECBD}" srcOrd="2" destOrd="0" presId="urn:microsoft.com/office/officeart/2005/8/layout/vList3"/>
    <dgm:cxn modelId="{5A04785A-61EE-4FD7-98D1-A2DBA8DF86B3}" type="presParOf" srcId="{B3FFA55F-127B-45FD-AD44-A2AC4AFAECBD}" destId="{DA280AE0-73CA-4DB2-BDC8-9A60A3D75700}" srcOrd="0" destOrd="0" presId="urn:microsoft.com/office/officeart/2005/8/layout/vList3"/>
    <dgm:cxn modelId="{692161D1-0DDB-405B-BFEA-5C5D36ED9C02}" type="presParOf" srcId="{B3FFA55F-127B-45FD-AD44-A2AC4AFAECBD}" destId="{AAF4A66C-5A69-41DF-A509-7E5554AD3039}" srcOrd="1" destOrd="0" presId="urn:microsoft.com/office/officeart/2005/8/layout/vList3"/>
    <dgm:cxn modelId="{F66CBADD-BD41-495E-8E1C-740C5E75BA00}" type="presParOf" srcId="{545736B1-8A36-4319-82C8-6B87B1213D52}" destId="{B37BC02C-5842-4541-8364-BEB53FBB1BD1}" srcOrd="3" destOrd="0" presId="urn:microsoft.com/office/officeart/2005/8/layout/vList3"/>
    <dgm:cxn modelId="{1CFC9D6D-B887-4415-8BDC-A7678A744EE7}" type="presParOf" srcId="{545736B1-8A36-4319-82C8-6B87B1213D52}" destId="{19625328-1C0B-4F21-8A64-50564A6E9470}" srcOrd="4" destOrd="0" presId="urn:microsoft.com/office/officeart/2005/8/layout/vList3"/>
    <dgm:cxn modelId="{1045EFE8-7A7E-4E36-B455-2E27CC246B1E}" type="presParOf" srcId="{19625328-1C0B-4F21-8A64-50564A6E9470}" destId="{4E0B9E2E-88B1-4E8A-884A-46D38577C484}" srcOrd="0" destOrd="0" presId="urn:microsoft.com/office/officeart/2005/8/layout/vList3"/>
    <dgm:cxn modelId="{140C74D6-6DBB-4E13-AEC7-60EC0464C56D}" type="presParOf" srcId="{19625328-1C0B-4F21-8A64-50564A6E9470}" destId="{5B319D2B-1559-4D84-A692-F53FDF91AC18}" srcOrd="1" destOrd="0" presId="urn:microsoft.com/office/officeart/2005/8/layout/vList3"/>
    <dgm:cxn modelId="{64EAD889-EEA3-4F94-A514-D3BC8E217CA9}" type="presParOf" srcId="{545736B1-8A36-4319-82C8-6B87B1213D52}" destId="{6A2B50C7-CE16-4B03-ADC0-4D5E63F2ABE1}" srcOrd="5" destOrd="0" presId="urn:microsoft.com/office/officeart/2005/8/layout/vList3"/>
    <dgm:cxn modelId="{1E3E03BB-A5D6-4459-A49F-CB1879A8AE5E}" type="presParOf" srcId="{545736B1-8A36-4319-82C8-6B87B1213D52}" destId="{DB0A76E6-FF7F-4054-BB92-CC8DCE972CB3}" srcOrd="6" destOrd="0" presId="urn:microsoft.com/office/officeart/2005/8/layout/vList3"/>
    <dgm:cxn modelId="{CB7CED8D-6C47-4388-8644-0F2C0E8861F4}" type="presParOf" srcId="{DB0A76E6-FF7F-4054-BB92-CC8DCE972CB3}" destId="{AC642C2C-8368-4CA9-86D2-914BEED69004}" srcOrd="0" destOrd="0" presId="urn:microsoft.com/office/officeart/2005/8/layout/vList3"/>
    <dgm:cxn modelId="{9A94830C-8BE8-430C-B880-46014AD3F4A2}" type="presParOf" srcId="{DB0A76E6-FF7F-4054-BB92-CC8DCE972CB3}" destId="{EEC36A89-0FF0-4B80-A80F-C9DE07FE352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2FFD3-1AEC-487F-AC08-3AA6F1897D8F}">
      <dsp:nvSpPr>
        <dsp:cNvPr id="0" name=""/>
        <dsp:cNvSpPr/>
      </dsp:nvSpPr>
      <dsp:spPr>
        <a:xfrm rot="10800000">
          <a:off x="2150859" y="493"/>
          <a:ext cx="7975821" cy="5676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317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Beautiful is better than ugly</a:t>
          </a:r>
          <a:endParaRPr lang="en-US" sz="2700" kern="1200" dirty="0"/>
        </a:p>
      </dsp:txBody>
      <dsp:txXfrm rot="10800000">
        <a:off x="2292771" y="493"/>
        <a:ext cx="7833909" cy="567648"/>
      </dsp:txXfrm>
    </dsp:sp>
    <dsp:sp modelId="{47CE492C-B0D8-4C29-8DFB-4A56DAF22B25}">
      <dsp:nvSpPr>
        <dsp:cNvPr id="0" name=""/>
        <dsp:cNvSpPr/>
      </dsp:nvSpPr>
      <dsp:spPr>
        <a:xfrm>
          <a:off x="1867035" y="493"/>
          <a:ext cx="567648" cy="56764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4A66C-5A69-41DF-A509-7E5554AD3039}">
      <dsp:nvSpPr>
        <dsp:cNvPr id="0" name=""/>
        <dsp:cNvSpPr/>
      </dsp:nvSpPr>
      <dsp:spPr>
        <a:xfrm rot="10800000">
          <a:off x="2150859" y="710053"/>
          <a:ext cx="7975821" cy="5676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317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Simple is better than Complex</a:t>
          </a:r>
          <a:endParaRPr lang="en-US" sz="2700" kern="1200" dirty="0"/>
        </a:p>
      </dsp:txBody>
      <dsp:txXfrm rot="10800000">
        <a:off x="2292771" y="710053"/>
        <a:ext cx="7833909" cy="567648"/>
      </dsp:txXfrm>
    </dsp:sp>
    <dsp:sp modelId="{DA280AE0-73CA-4DB2-BDC8-9A60A3D75700}">
      <dsp:nvSpPr>
        <dsp:cNvPr id="0" name=""/>
        <dsp:cNvSpPr/>
      </dsp:nvSpPr>
      <dsp:spPr>
        <a:xfrm>
          <a:off x="1867035" y="710053"/>
          <a:ext cx="567648" cy="56764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19D2B-1559-4D84-A692-F53FDF91AC18}">
      <dsp:nvSpPr>
        <dsp:cNvPr id="0" name=""/>
        <dsp:cNvSpPr/>
      </dsp:nvSpPr>
      <dsp:spPr>
        <a:xfrm rot="10800000">
          <a:off x="2150859" y="1419614"/>
          <a:ext cx="7975821" cy="5676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317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Flat is better than nested</a:t>
          </a:r>
          <a:endParaRPr lang="en-US" sz="2700" kern="1200" dirty="0"/>
        </a:p>
      </dsp:txBody>
      <dsp:txXfrm rot="10800000">
        <a:off x="2292771" y="1419614"/>
        <a:ext cx="7833909" cy="567648"/>
      </dsp:txXfrm>
    </dsp:sp>
    <dsp:sp modelId="{4E0B9E2E-88B1-4E8A-884A-46D38577C484}">
      <dsp:nvSpPr>
        <dsp:cNvPr id="0" name=""/>
        <dsp:cNvSpPr/>
      </dsp:nvSpPr>
      <dsp:spPr>
        <a:xfrm>
          <a:off x="1867035" y="1419614"/>
          <a:ext cx="567648" cy="56764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36A89-0FF0-4B80-A80F-C9DE07FE352A}">
      <dsp:nvSpPr>
        <dsp:cNvPr id="0" name=""/>
        <dsp:cNvSpPr/>
      </dsp:nvSpPr>
      <dsp:spPr>
        <a:xfrm rot="10800000">
          <a:off x="2150859" y="2129174"/>
          <a:ext cx="7975821" cy="56764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317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Readability counts</a:t>
          </a:r>
          <a:endParaRPr lang="en-US" sz="2700" kern="1200" dirty="0"/>
        </a:p>
      </dsp:txBody>
      <dsp:txXfrm rot="10800000">
        <a:off x="2292771" y="2129174"/>
        <a:ext cx="7833909" cy="567648"/>
      </dsp:txXfrm>
    </dsp:sp>
    <dsp:sp modelId="{AC642C2C-8368-4CA9-86D2-914BEED69004}">
      <dsp:nvSpPr>
        <dsp:cNvPr id="0" name=""/>
        <dsp:cNvSpPr/>
      </dsp:nvSpPr>
      <dsp:spPr>
        <a:xfrm>
          <a:off x="1867035" y="2129174"/>
          <a:ext cx="567648" cy="56764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4834" y="310263"/>
            <a:ext cx="7766936" cy="1646302"/>
          </a:xfrm>
        </p:spPr>
        <p:txBody>
          <a:bodyPr/>
          <a:lstStyle/>
          <a:p>
            <a:r>
              <a:rPr lang="en-US" dirty="0" smtClean="0"/>
              <a:t>Technical Meeting: Software Development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7790" y="1956565"/>
            <a:ext cx="7766936" cy="1096899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The Zen of </a:t>
            </a:r>
            <a:r>
              <a:rPr lang="en-US" dirty="0" smtClean="0"/>
              <a:t>Python</a:t>
            </a:r>
          </a:p>
          <a:p>
            <a:r>
              <a:rPr lang="en-US" dirty="0" err="1" smtClean="0"/>
              <a:t>Jupyter</a:t>
            </a:r>
            <a:r>
              <a:rPr lang="en-US" dirty="0" smtClean="0"/>
              <a:t> Notebooks</a:t>
            </a:r>
            <a:endParaRPr lang="en-US" dirty="0" smtClean="0"/>
          </a:p>
          <a:p>
            <a:r>
              <a:rPr lang="en-US" dirty="0" smtClean="0"/>
              <a:t>Responsibility should be unique</a:t>
            </a:r>
          </a:p>
          <a:p>
            <a:r>
              <a:rPr lang="en-US" dirty="0" smtClean="0"/>
              <a:t>Programming is for </a:t>
            </a:r>
            <a:r>
              <a:rPr lang="en-US" dirty="0" err="1" smtClean="0"/>
              <a:t>gits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57" y="2399007"/>
            <a:ext cx="47625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1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The Zen of Python (goo.gl/</a:t>
            </a:r>
            <a:r>
              <a:rPr lang="en-US" dirty="0" err="1" smtClean="0"/>
              <a:t>KubWVd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955122304"/>
              </p:ext>
            </p:extLst>
          </p:nvPr>
        </p:nvGraphicFramePr>
        <p:xfrm>
          <a:off x="-659582" y="1270001"/>
          <a:ext cx="11993717" cy="2697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155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important: PEP8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Python’s standard library style conventions</a:t>
            </a:r>
          </a:p>
          <a:p>
            <a:pPr lvl="1"/>
            <a:r>
              <a:rPr lang="en-US" dirty="0" smtClean="0"/>
              <a:t>Most, if not all, professional Pythons use it in their own code</a:t>
            </a:r>
          </a:p>
          <a:p>
            <a:r>
              <a:rPr lang="en-US" dirty="0" smtClean="0"/>
              <a:t>Key insight: Code is </a:t>
            </a:r>
            <a:r>
              <a:rPr lang="en-US" i="1" dirty="0" smtClean="0"/>
              <a:t>read</a:t>
            </a:r>
            <a:r>
              <a:rPr lang="en-US" dirty="0"/>
              <a:t> </a:t>
            </a:r>
            <a:r>
              <a:rPr lang="en-US" dirty="0" smtClean="0"/>
              <a:t>more often than it is </a:t>
            </a:r>
            <a:r>
              <a:rPr lang="en-US" i="1" dirty="0" smtClean="0"/>
              <a:t>written</a:t>
            </a:r>
            <a:endParaRPr lang="en-US" dirty="0" smtClean="0"/>
          </a:p>
          <a:p>
            <a:pPr lvl="1"/>
            <a:r>
              <a:rPr lang="en-US" dirty="0" smtClean="0"/>
              <a:t>From experience: You can’t even read your own code  down the road!</a:t>
            </a:r>
          </a:p>
          <a:p>
            <a:pPr lvl="1"/>
            <a:r>
              <a:rPr lang="en-US" dirty="0" smtClean="0"/>
              <a:t>Now imagine inheriting code from and old </a:t>
            </a:r>
            <a:r>
              <a:rPr lang="en-US" dirty="0" err="1" smtClean="0"/>
              <a:t>PostDoc</a:t>
            </a:r>
            <a:r>
              <a:rPr lang="en-US" dirty="0" smtClean="0"/>
              <a:t> from Russia 5 years ago</a:t>
            </a:r>
            <a:r>
              <a:rPr lang="en-NL" dirty="0" smtClean="0"/>
              <a:t>…</a:t>
            </a:r>
            <a:endParaRPr lang="en-US" dirty="0" smtClean="0"/>
          </a:p>
          <a:p>
            <a:r>
              <a:rPr lang="en-US" dirty="0" smtClean="0"/>
              <a:t>Developers communicate (in code): use the same language (code style)!</a:t>
            </a:r>
          </a:p>
          <a:p>
            <a:r>
              <a:rPr lang="en-US" dirty="0" smtClean="0"/>
              <a:t>If others use your code </a:t>
            </a:r>
            <a:r>
              <a:rPr lang="en-NL" dirty="0" smtClean="0"/>
              <a:t>–</a:t>
            </a:r>
            <a:r>
              <a:rPr lang="en-US" dirty="0" smtClean="0"/>
              <a:t> they need to be able to understand it!</a:t>
            </a:r>
          </a:p>
          <a:p>
            <a:pPr lvl="1"/>
            <a:r>
              <a:rPr lang="en-US" dirty="0" smtClean="0"/>
              <a:t>For instance, to report bugs.</a:t>
            </a:r>
            <a:r>
              <a:rPr lang="en-US" dirty="0"/>
              <a:t> </a:t>
            </a:r>
            <a:r>
              <a:rPr lang="en-US" dirty="0" smtClean="0"/>
              <a:t>Which we don’t make. Even so.</a:t>
            </a:r>
          </a:p>
        </p:txBody>
      </p:sp>
    </p:spTree>
    <p:extLst>
      <p:ext uri="{BB962C8B-B14F-4D97-AF65-F5344CB8AC3E}">
        <p14:creationId xmlns:p14="http://schemas.microsoft.com/office/powerpoint/2010/main" val="378076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Jupyter</a:t>
            </a:r>
            <a:r>
              <a:rPr lang="en-US" dirty="0" smtClean="0"/>
              <a:t> Notebooks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‘notebook’ style working</a:t>
            </a:r>
          </a:p>
          <a:p>
            <a:r>
              <a:rPr lang="en-US" dirty="0" smtClean="0"/>
              <a:t>Good for experimentation</a:t>
            </a:r>
          </a:p>
          <a:p>
            <a:r>
              <a:rPr lang="en-US" dirty="0" smtClean="0"/>
              <a:t>Good for sharing (e.g. discussion about Z)</a:t>
            </a:r>
          </a:p>
          <a:p>
            <a:r>
              <a:rPr lang="en-US" dirty="0" smtClean="0"/>
              <a:t>Can be rendered on GitHub (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Downside:</a:t>
            </a:r>
          </a:p>
          <a:p>
            <a:pPr lvl="1"/>
            <a:r>
              <a:rPr lang="en-US" dirty="0" smtClean="0"/>
              <a:t>Usually: Unordered</a:t>
            </a:r>
          </a:p>
          <a:p>
            <a:pPr lvl="1"/>
            <a:r>
              <a:rPr lang="en-US" dirty="0" smtClean="0"/>
              <a:t>Usually: Unclear persistence of variables</a:t>
            </a:r>
          </a:p>
          <a:p>
            <a:pPr lvl="1"/>
            <a:r>
              <a:rPr lang="en-US" dirty="0" smtClean="0"/>
              <a:t>Obviously: You won’t make such mistakes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7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Physicist 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Physicists define their symbols in math: e.g. r, x, </a:t>
            </a:r>
            <a:r>
              <a:rPr lang="en-US" dirty="0" err="1" smtClean="0"/>
              <a:t>g_munu</a:t>
            </a:r>
            <a:endParaRPr lang="en-US" dirty="0" smtClean="0"/>
          </a:p>
          <a:p>
            <a:r>
              <a:rPr lang="en-US" dirty="0" smtClean="0"/>
              <a:t>Trap: Call your variables the same</a:t>
            </a:r>
          </a:p>
          <a:p>
            <a:pPr lvl="1"/>
            <a:r>
              <a:rPr lang="en-US" dirty="0" smtClean="0"/>
              <a:t>Confusion </a:t>
            </a:r>
            <a:r>
              <a:rPr lang="en-NL" dirty="0" smtClean="0"/>
              <a:t>–</a:t>
            </a:r>
            <a:r>
              <a:rPr lang="en-US" dirty="0" smtClean="0"/>
              <a:t> others do not have your notes!</a:t>
            </a:r>
          </a:p>
          <a:p>
            <a:pPr lvl="1"/>
            <a:r>
              <a:rPr lang="en-US" dirty="0" smtClean="0"/>
              <a:t>Conflicts! E.g. lambda is a defined keyword (anonymous function)</a:t>
            </a:r>
          </a:p>
          <a:p>
            <a:pPr lvl="1"/>
            <a:r>
              <a:rPr lang="en-US" dirty="0" smtClean="0"/>
              <a:t>Common variables change! </a:t>
            </a:r>
          </a:p>
          <a:p>
            <a:r>
              <a:rPr lang="en-US" dirty="0" smtClean="0"/>
              <a:t>Instead, describe. </a:t>
            </a:r>
            <a:r>
              <a:rPr lang="en-US" dirty="0" err="1" smtClean="0"/>
              <a:t>Autocompletion</a:t>
            </a:r>
            <a:r>
              <a:rPr lang="en-US" dirty="0" smtClean="0"/>
              <a:t> is your friend!</a:t>
            </a:r>
          </a:p>
          <a:p>
            <a:pPr lvl="1"/>
            <a:r>
              <a:rPr lang="en-US" dirty="0" smtClean="0"/>
              <a:t>x: </a:t>
            </a:r>
            <a:r>
              <a:rPr lang="en-US" dirty="0" err="1" smtClean="0"/>
              <a:t>spatial_distance</a:t>
            </a:r>
            <a:endParaRPr lang="en-US" dirty="0" smtClean="0"/>
          </a:p>
          <a:p>
            <a:pPr lvl="1"/>
            <a:r>
              <a:rPr lang="en-US" dirty="0" smtClean="0"/>
              <a:t>R: </a:t>
            </a:r>
            <a:r>
              <a:rPr lang="en-US" dirty="0" err="1" smtClean="0"/>
              <a:t>conformal_dimension</a:t>
            </a:r>
            <a:endParaRPr lang="en-US" dirty="0" smtClean="0"/>
          </a:p>
          <a:p>
            <a:pPr lvl="1"/>
            <a:r>
              <a:rPr lang="en-US" dirty="0" err="1" smtClean="0"/>
              <a:t>G_munu</a:t>
            </a:r>
            <a:r>
              <a:rPr lang="en-US" dirty="0" smtClean="0"/>
              <a:t>: </a:t>
            </a:r>
            <a:r>
              <a:rPr lang="en-US" dirty="0" err="1" smtClean="0"/>
              <a:t>gravitational_tensor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7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Responsibility should be unique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generic coding principle.</a:t>
            </a:r>
          </a:p>
          <a:p>
            <a:pPr lvl="1"/>
            <a:r>
              <a:rPr lang="en-US" dirty="0" smtClean="0"/>
              <a:t>“A class should have only one reason to change”</a:t>
            </a:r>
          </a:p>
          <a:p>
            <a:pPr lvl="1"/>
            <a:r>
              <a:rPr lang="en-US" dirty="0" smtClean="0"/>
              <a:t>“Gather together the things that change for the same reasons. Separate those things that change for different reasons”.</a:t>
            </a:r>
          </a:p>
          <a:p>
            <a:pPr lvl="1"/>
            <a:r>
              <a:rPr lang="en-US" dirty="0" smtClean="0"/>
              <a:t>See e.g. </a:t>
            </a:r>
            <a:r>
              <a:rPr lang="en-US" dirty="0" err="1" smtClean="0"/>
              <a:t>doi</a:t>
            </a:r>
            <a:r>
              <a:rPr lang="en-US" dirty="0" smtClean="0"/>
              <a:t> 10.1145/361598.361623</a:t>
            </a:r>
          </a:p>
          <a:p>
            <a:r>
              <a:rPr lang="en-US" dirty="0" smtClean="0"/>
              <a:t>We’ve already thought of this, in many ways:</a:t>
            </a:r>
          </a:p>
          <a:p>
            <a:pPr lvl="1"/>
            <a:r>
              <a:rPr lang="en-US" dirty="0" smtClean="0"/>
              <a:t>Flowchart separates e.g. importing </a:t>
            </a:r>
            <a:r>
              <a:rPr lang="en-US" dirty="0" err="1" smtClean="0"/>
              <a:t>mathematica</a:t>
            </a:r>
            <a:r>
              <a:rPr lang="en-US" dirty="0" smtClean="0"/>
              <a:t> from optimizing the matrix</a:t>
            </a:r>
          </a:p>
          <a:p>
            <a:r>
              <a:rPr lang="en-US" dirty="0" smtClean="0"/>
              <a:t>Continue to use it </a:t>
            </a:r>
            <a:r>
              <a:rPr lang="en-NL" dirty="0" smtClean="0">
                <a:sym typeface="Wingdings" panose="05000000000000000000" pitchFamily="2" charset="2"/>
              </a:rPr>
              <a:t>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E.g. a calculation optimization rarely has to know of the ‘physical objects’ it optimizes.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0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Programming is for </a:t>
            </a:r>
            <a:r>
              <a:rPr lang="en-US" dirty="0" err="1" smtClean="0"/>
              <a:t>Gits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But </a:t>
            </a:r>
            <a:r>
              <a:rPr lang="en-US" dirty="0" err="1" smtClean="0"/>
              <a:t>Josko</a:t>
            </a:r>
            <a:r>
              <a:rPr lang="en-US" dirty="0" smtClean="0"/>
              <a:t>, I don’t want to have so many files.</a:t>
            </a:r>
          </a:p>
          <a:p>
            <a:r>
              <a:rPr lang="en-US" dirty="0" smtClean="0"/>
              <a:t>But, I won’t be able to find the function in the right file</a:t>
            </a:r>
          </a:p>
          <a:p>
            <a:r>
              <a:rPr lang="en-US" dirty="0" smtClean="0"/>
              <a:t>But, what if we change things?</a:t>
            </a:r>
          </a:p>
          <a:p>
            <a:r>
              <a:rPr lang="en-US" dirty="0" smtClean="0"/>
              <a:t>What if we all change things?</a:t>
            </a:r>
          </a:p>
          <a:p>
            <a:r>
              <a:rPr lang="en-US" dirty="0" smtClean="0"/>
              <a:t>Wait, what did you change last week on Friday 15:21 when I wasn’t paying attention?</a:t>
            </a:r>
          </a:p>
          <a:p>
            <a:r>
              <a:rPr lang="en-US" dirty="0" smtClean="0"/>
              <a:t>Did you do that?</a:t>
            </a:r>
          </a:p>
          <a:p>
            <a:r>
              <a:rPr lang="en-US" dirty="0" smtClean="0"/>
              <a:t>Wait, what do we still have to do?</a:t>
            </a:r>
          </a:p>
          <a:p>
            <a:r>
              <a:rPr lang="en-US" dirty="0" err="1" smtClean="0"/>
              <a:t>Aaah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93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Control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Think of “save points” or “check points” in games. You’re able to go back to a previous point and continue.</a:t>
            </a:r>
          </a:p>
          <a:p>
            <a:r>
              <a:rPr lang="en-US" dirty="0" smtClean="0"/>
              <a:t>Changes are recorded, and can be undone.</a:t>
            </a:r>
          </a:p>
          <a:p>
            <a:r>
              <a:rPr lang="en-US" dirty="0" smtClean="0"/>
              <a:t>By keeping changes recorded, multiple changes by many people can be combined automatically.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 the history of </a:t>
            </a:r>
            <a:r>
              <a:rPr lang="en-US" dirty="0" err="1" smtClean="0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Long Ago, before I went to university, the Linux kernel used a proprietary software package for its development.</a:t>
            </a:r>
          </a:p>
          <a:p>
            <a:r>
              <a:rPr lang="en-US" dirty="0" smtClean="0"/>
              <a:t>Then, the management changed and the relationship between the Linux developer community and the commercial company broke. As I heard it, the new management went “</a:t>
            </a:r>
            <a:r>
              <a:rPr lang="en-US" dirty="0" err="1" smtClean="0"/>
              <a:t>haha</a:t>
            </a:r>
            <a:r>
              <a:rPr lang="en-US" dirty="0" smtClean="0"/>
              <a:t> you have to pay now” and Linux went “Fuck that”.</a:t>
            </a:r>
          </a:p>
          <a:p>
            <a:r>
              <a:rPr lang="en-US" dirty="0" smtClean="0"/>
              <a:t>Anyway, they made </a:t>
            </a:r>
            <a:r>
              <a:rPr lang="en-US" dirty="0" err="1" smtClean="0"/>
              <a:t>Git</a:t>
            </a:r>
            <a:r>
              <a:rPr lang="en-US" dirty="0" smtClean="0"/>
              <a:t> and it is now used by about 90-100% of developers.</a:t>
            </a:r>
          </a:p>
          <a:p>
            <a:r>
              <a:rPr lang="en-US" dirty="0" smtClean="0"/>
              <a:t>Its goals:</a:t>
            </a:r>
          </a:p>
          <a:p>
            <a:pPr lvl="1"/>
            <a:r>
              <a:rPr lang="en-US" dirty="0" smtClean="0"/>
              <a:t>Speed</a:t>
            </a:r>
          </a:p>
          <a:p>
            <a:pPr lvl="1"/>
            <a:r>
              <a:rPr lang="en-US" dirty="0" smtClean="0"/>
              <a:t>Simple Design</a:t>
            </a:r>
          </a:p>
          <a:p>
            <a:pPr lvl="1"/>
            <a:r>
              <a:rPr lang="en-US" dirty="0" smtClean="0"/>
              <a:t>Strong support for non-linear development</a:t>
            </a:r>
          </a:p>
          <a:p>
            <a:pPr lvl="1"/>
            <a:r>
              <a:rPr lang="en-US" dirty="0" smtClean="0"/>
              <a:t>Fully distributed</a:t>
            </a:r>
          </a:p>
          <a:p>
            <a:pPr lvl="1"/>
            <a:r>
              <a:rPr lang="en-US" dirty="0" smtClean="0"/>
              <a:t>Able to handle large projects</a:t>
            </a:r>
          </a:p>
        </p:txBody>
      </p:sp>
    </p:spTree>
    <p:extLst>
      <p:ext uri="{BB962C8B-B14F-4D97-AF65-F5344CB8AC3E}">
        <p14:creationId xmlns:p14="http://schemas.microsoft.com/office/powerpoint/2010/main" val="77795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It’s a command line program.</a:t>
            </a:r>
          </a:p>
          <a:p>
            <a:r>
              <a:rPr lang="en-US" dirty="0" smtClean="0"/>
              <a:t>Or use a graphical user interface, like GitHub provides.</a:t>
            </a:r>
          </a:p>
          <a:p>
            <a:r>
              <a:rPr lang="en-US" dirty="0" smtClean="0"/>
              <a:t>Or don’t. Command lines are better anyway. </a:t>
            </a:r>
          </a:p>
          <a:p>
            <a:pPr lvl="1"/>
            <a:r>
              <a:rPr lang="en-US" dirty="0" smtClean="0"/>
              <a:t>Seriously, the command line offers more functionality than the more limited user interfaces do. That’s life.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0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Basics: Recording Changes</a:t>
            </a:r>
            <a:endParaRPr lang="en-US" dirty="0"/>
          </a:p>
        </p:txBody>
      </p:sp>
      <p:pic>
        <p:nvPicPr>
          <p:cNvPr id="2050" name="Picture 2" descr="The lifecycle of the status of your files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019" y="2529681"/>
            <a:ext cx="7620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40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mastery of</a:t>
            </a:r>
          </a:p>
          <a:p>
            <a:pPr lvl="1"/>
            <a:r>
              <a:rPr lang="en-US" dirty="0" smtClean="0"/>
              <a:t>The Zen of Pythons</a:t>
            </a:r>
          </a:p>
          <a:p>
            <a:pPr lvl="1"/>
            <a:r>
              <a:rPr lang="en-US" dirty="0" smtClean="0"/>
              <a:t>Singular Responsibility</a:t>
            </a:r>
          </a:p>
          <a:p>
            <a:pPr lvl="1"/>
            <a:r>
              <a:rPr lang="en-US" dirty="0" smtClean="0"/>
              <a:t>Being a </a:t>
            </a:r>
            <a:r>
              <a:rPr lang="en-US" dirty="0" err="1" smtClean="0"/>
              <a:t>Git</a:t>
            </a:r>
            <a:endParaRPr lang="en-US" dirty="0" smtClean="0"/>
          </a:p>
          <a:p>
            <a:r>
              <a:rPr lang="en-US" dirty="0" smtClean="0"/>
              <a:t>You’re able to become a Jedi Master. Alternatively, to make “good” code.</a:t>
            </a:r>
          </a:p>
        </p:txBody>
      </p:sp>
      <p:pic>
        <p:nvPicPr>
          <p:cNvPr id="3074" name="Picture 2" descr="https://i.imgflip.com/2dqlfq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81" y="475636"/>
            <a:ext cx="43815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i.imgflip.com/2dqlt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26" y="4239725"/>
            <a:ext cx="3229180" cy="242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83509" y="6271551"/>
            <a:ext cx="4859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 smtClean="0">
                <a:sym typeface="Wingdings" panose="05000000000000000000" pitchFamily="2" charset="2"/>
              </a:rPr>
              <a:t>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smtClean="0"/>
              <a:t>This was basically how I got a PhD spot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26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</TotalTime>
  <Words>688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Trebuchet MS</vt:lpstr>
      <vt:lpstr>Wingdings</vt:lpstr>
      <vt:lpstr>Wingdings 3</vt:lpstr>
      <vt:lpstr>Facet</vt:lpstr>
      <vt:lpstr>Technical Meeting: Software Development</vt:lpstr>
      <vt:lpstr>1. The Zen of Python (goo.gl/KubWVd)</vt:lpstr>
      <vt:lpstr>More important: PEP8</vt:lpstr>
      <vt:lpstr>Jupyter Notebooks</vt:lpstr>
      <vt:lpstr>The Physicist Trap</vt:lpstr>
      <vt:lpstr>2. Responsibility should be unique</vt:lpstr>
      <vt:lpstr>3. Programming is for Gits</vt:lpstr>
      <vt:lpstr>Version Control Software</vt:lpstr>
      <vt:lpstr>On the history of Git</vt:lpstr>
      <vt:lpstr>Using Git</vt:lpstr>
      <vt:lpstr>Git Basics: Recording Changes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Meeting: Software Development</dc:title>
  <dc:creator>Windows User</dc:creator>
  <cp:lastModifiedBy>Windows User</cp:lastModifiedBy>
  <cp:revision>16</cp:revision>
  <dcterms:created xsi:type="dcterms:W3CDTF">2018-07-10T13:28:22Z</dcterms:created>
  <dcterms:modified xsi:type="dcterms:W3CDTF">2018-07-11T12:23:19Z</dcterms:modified>
</cp:coreProperties>
</file>